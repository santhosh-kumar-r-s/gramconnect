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74F"/>
    <a:srgbClr val="999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145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3474720"/>
            <a:ext cx="2743200" cy="2743200"/>
          </a:xfrm>
          <a:prstGeom prst="ellipse">
            <a:avLst/>
          </a:prstGeom>
          <a:solidFill>
            <a:srgbClr val="52B788">
              <a:alpha val="3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94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GramConnect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Farmer to Consumer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457200" cy="4572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60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Farmers. Nourishing India.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206240"/>
            <a:ext cx="987552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20624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627632" y="4206240"/>
            <a:ext cx="987552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1"/>
          <p:cNvSpPr/>
          <p:nvPr/>
        </p:nvSpPr>
        <p:spPr>
          <a:xfrm>
            <a:off x="1627632" y="420624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06624" y="4206240"/>
            <a:ext cx="987552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2706624" y="420624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785616" y="4206240"/>
            <a:ext cx="987552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5"/>
          <p:cNvSpPr/>
          <p:nvPr/>
        </p:nvSpPr>
        <p:spPr>
          <a:xfrm>
            <a:off x="3785616" y="420624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43600" y="73152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</a:rPr>
              <a:t>🌾</a:t>
            </a:r>
            <a:endParaRPr lang="en-US" sz="12000" dirty="0"/>
          </a:p>
        </p:txBody>
      </p:sp>
      <p:sp>
        <p:nvSpPr>
          <p:cNvPr id="20" name="Text 17"/>
          <p:cNvSpPr/>
          <p:nvPr/>
        </p:nvSpPr>
        <p:spPr>
          <a:xfrm>
            <a:off x="5669280" y="34747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🍅  🥬  🌶️</a:t>
            </a:r>
            <a:endParaRPr 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88720"/>
            <a:ext cx="2743200" cy="54864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💸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29768" y="22402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Crisis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" y="2788920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receive only 10–15% of the final price. Commission agents take 85–90% of the value chain.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88720"/>
            <a:ext cx="2743200" cy="54864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🥀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3401568" y="22402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Degradation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01568" y="2788920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travels through 5–7 intermediaries over 4–7 days, losing freshness and nutritional value.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118872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63640" y="1188720"/>
            <a:ext cx="2743200" cy="54864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13716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6373368" y="22402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Opacity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73368" y="2788920"/>
            <a:ext cx="25237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pay 4–8× the farm price with zero visibility into the source, quality, or farmer identity.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farmers lose ₹45,000 Cr annually to intermediaries  •  600M+ consumers lack access to fresh produce  •  30% post-harvest losses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GramConnect eliminates the middleman with a transparent digital marketplace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011680" cy="20116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👨‍🌾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3703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produce at fair price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011680" cy="20116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🌐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GRAMCONNECT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703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marketplace + verification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2011680" cy="20116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🏠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368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703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fresh produce directly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395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1965960" cy="457200"/>
          </a:xfrm>
          <a:prstGeom prst="rect">
            <a:avLst/>
          </a:prstGeom>
          <a:solidFill>
            <a:srgbClr val="52B788">
              <a:alpha val="70000"/>
            </a:srgbClr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663440"/>
            <a:ext cx="246888" cy="2468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46268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Middlemen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487168" y="4572000"/>
            <a:ext cx="1965960" cy="457200"/>
          </a:xfrm>
          <a:prstGeom prst="rect">
            <a:avLst/>
          </a:prstGeom>
          <a:solidFill>
            <a:srgbClr val="52B788">
              <a:alpha val="70000"/>
            </a:srgbClr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4663440"/>
            <a:ext cx="246888" cy="2468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944368" y="46268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Pricing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08576" y="4572000"/>
            <a:ext cx="1965960" cy="457200"/>
          </a:xfrm>
          <a:prstGeom prst="rect">
            <a:avLst/>
          </a:prstGeom>
          <a:solidFill>
            <a:srgbClr val="52B788">
              <a:alpha val="70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4663440"/>
            <a:ext cx="246888" cy="2468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065776" y="46268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Verified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729984" y="4572000"/>
            <a:ext cx="1965960" cy="457200"/>
          </a:xfrm>
          <a:prstGeom prst="rect">
            <a:avLst/>
          </a:prstGeom>
          <a:solidFill>
            <a:srgbClr val="52B788">
              <a:alpha val="70000"/>
            </a:srgbClr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4663440"/>
            <a:ext cx="246888" cy="2468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187184" y="46268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100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4611C65F-1972-ED03-8913-5EF9487D8C94}"/>
              </a:ext>
            </a:extLst>
          </p:cNvPr>
          <p:cNvSpPr/>
          <p:nvPr/>
        </p:nvSpPr>
        <p:spPr>
          <a:xfrm>
            <a:off x="2441448" y="2500884"/>
            <a:ext cx="987552" cy="141732"/>
          </a:xfrm>
          <a:prstGeom prst="rightArrow">
            <a:avLst/>
          </a:prstGeom>
          <a:solidFill>
            <a:srgbClr val="F9C7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48552E17-0EDB-38E5-813D-96555A2A2543}"/>
              </a:ext>
            </a:extLst>
          </p:cNvPr>
          <p:cNvSpPr/>
          <p:nvPr/>
        </p:nvSpPr>
        <p:spPr>
          <a:xfrm>
            <a:off x="5550408" y="2500884"/>
            <a:ext cx="987552" cy="141732"/>
          </a:xfrm>
          <a:prstGeom prst="rightArrow">
            <a:avLst/>
          </a:prstGeom>
          <a:solidFill>
            <a:srgbClr val="F9C7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4104C6-793B-0B02-FBB6-6084053C9940}"/>
              </a:ext>
            </a:extLst>
          </p:cNvPr>
          <p:cNvGrpSpPr/>
          <p:nvPr/>
        </p:nvGrpSpPr>
        <p:grpSpPr>
          <a:xfrm>
            <a:off x="422148" y="1203960"/>
            <a:ext cx="475488" cy="475488"/>
            <a:chOff x="422148" y="1203960"/>
            <a:chExt cx="475488" cy="475488"/>
          </a:xfrm>
        </p:grpSpPr>
        <p:sp>
          <p:nvSpPr>
            <p:cNvPr id="5" name="Shape 3"/>
            <p:cNvSpPr/>
            <p:nvPr/>
          </p:nvSpPr>
          <p:spPr>
            <a:xfrm>
              <a:off x="422148" y="1203960"/>
              <a:ext cx="475488" cy="475488"/>
            </a:xfrm>
            <a:prstGeom prst="ellipse">
              <a:avLst/>
            </a:prstGeom>
            <a:solidFill>
              <a:srgbClr val="2D6A4F"/>
            </a:solidFill>
            <a:ln/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064" y="1293876"/>
              <a:ext cx="295656" cy="295656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978408" y="1280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Onboarding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9768" y="17556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Admin-verified farmer registration with village, district &amp; crop data. Pending approval workflow ensures quality.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4ED0D11-3C74-5A33-1C5E-D817DC64E2E2}"/>
              </a:ext>
            </a:extLst>
          </p:cNvPr>
          <p:cNvGrpSpPr/>
          <p:nvPr/>
        </p:nvGrpSpPr>
        <p:grpSpPr>
          <a:xfrm>
            <a:off x="3310128" y="1234440"/>
            <a:ext cx="475488" cy="475488"/>
            <a:chOff x="3310128" y="1234440"/>
            <a:chExt cx="475488" cy="475488"/>
          </a:xfrm>
        </p:grpSpPr>
        <p:sp>
          <p:nvSpPr>
            <p:cNvPr id="10" name="Shape 7"/>
            <p:cNvSpPr/>
            <p:nvPr/>
          </p:nvSpPr>
          <p:spPr>
            <a:xfrm>
              <a:off x="3310128" y="1234440"/>
              <a:ext cx="475488" cy="475488"/>
            </a:xfrm>
            <a:prstGeom prst="ellipse">
              <a:avLst/>
            </a:prstGeom>
            <a:solidFill>
              <a:srgbClr val="F4845F"/>
            </a:solidFill>
            <a:ln/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64992" y="1289304"/>
              <a:ext cx="365760" cy="365760"/>
            </a:xfrm>
            <a:prstGeom prst="rect">
              <a:avLst/>
            </a:prstGeom>
          </p:spPr>
        </p:pic>
      </p:grpSp>
      <p:sp>
        <p:nvSpPr>
          <p:cNvPr id="12" name="Text 8"/>
          <p:cNvSpPr/>
          <p:nvPr/>
        </p:nvSpPr>
        <p:spPr>
          <a:xfrm>
            <a:off x="3858768" y="1280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Marketplace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10128" y="17556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list produce with price, quantity, organic status &amp; harvest date. Category browsing &amp; smart filters.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076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FDF7720-D14A-07C7-D63D-40DA7400B974}"/>
              </a:ext>
            </a:extLst>
          </p:cNvPr>
          <p:cNvGrpSpPr/>
          <p:nvPr/>
        </p:nvGrpSpPr>
        <p:grpSpPr>
          <a:xfrm>
            <a:off x="6190488" y="1234440"/>
            <a:ext cx="475488" cy="475488"/>
            <a:chOff x="6190488" y="1234440"/>
            <a:chExt cx="475488" cy="475488"/>
          </a:xfrm>
        </p:grpSpPr>
        <p:sp>
          <p:nvSpPr>
            <p:cNvPr id="15" name="Shape 11"/>
            <p:cNvSpPr/>
            <p:nvPr/>
          </p:nvSpPr>
          <p:spPr>
            <a:xfrm>
              <a:off x="6190488" y="1234440"/>
              <a:ext cx="475488" cy="475488"/>
            </a:xfrm>
            <a:prstGeom prst="ellipse">
              <a:avLst/>
            </a:prstGeom>
            <a:solidFill>
              <a:srgbClr val="52B788"/>
            </a:solidFill>
            <a:ln/>
          </p:spPr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45352" y="1289304"/>
              <a:ext cx="365760" cy="365760"/>
            </a:xfrm>
            <a:prstGeom prst="rect">
              <a:avLst/>
            </a:prstGeom>
          </p:spPr>
        </p:pic>
      </p:grpSp>
      <p:sp>
        <p:nvSpPr>
          <p:cNvPr id="17" name="Text 12"/>
          <p:cNvSpPr/>
          <p:nvPr/>
        </p:nvSpPr>
        <p:spPr>
          <a:xfrm>
            <a:off x="6739128" y="1280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90488" y="175564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lifecycle: pending → accepted → shipped → delivered. Real-time status for consumers &amp; farmers.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4EF096D-9E55-C355-7B56-BAB5DAD614AF}"/>
              </a:ext>
            </a:extLst>
          </p:cNvPr>
          <p:cNvGrpSpPr/>
          <p:nvPr/>
        </p:nvGrpSpPr>
        <p:grpSpPr>
          <a:xfrm>
            <a:off x="429768" y="3154680"/>
            <a:ext cx="475488" cy="475488"/>
            <a:chOff x="429768" y="3154680"/>
            <a:chExt cx="475488" cy="475488"/>
          </a:xfrm>
        </p:grpSpPr>
        <p:sp>
          <p:nvSpPr>
            <p:cNvPr id="20" name="Shape 15"/>
            <p:cNvSpPr/>
            <p:nvPr/>
          </p:nvSpPr>
          <p:spPr>
            <a:xfrm>
              <a:off x="429768" y="3154680"/>
              <a:ext cx="475488" cy="475488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/>
          </p:spPr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2252" y="3217164"/>
              <a:ext cx="350520" cy="350520"/>
            </a:xfrm>
            <a:prstGeom prst="rect">
              <a:avLst/>
            </a:prstGeom>
          </p:spPr>
        </p:pic>
      </p:grpSp>
      <p:sp>
        <p:nvSpPr>
          <p:cNvPr id="22" name="Text 16"/>
          <p:cNvSpPr/>
          <p:nvPr/>
        </p:nvSpPr>
        <p:spPr>
          <a:xfrm>
            <a:off x="978408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9768" y="36758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dashboards for Farmers, Consumers &amp; Admins with tailored analytics and management tools.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D5645A3-17B6-6DB8-C3EB-F26672D95E0A}"/>
              </a:ext>
            </a:extLst>
          </p:cNvPr>
          <p:cNvGrpSpPr/>
          <p:nvPr/>
        </p:nvGrpSpPr>
        <p:grpSpPr>
          <a:xfrm>
            <a:off x="3310128" y="3154680"/>
            <a:ext cx="475488" cy="475488"/>
            <a:chOff x="3310128" y="3154680"/>
            <a:chExt cx="475488" cy="475488"/>
          </a:xfrm>
        </p:grpSpPr>
        <p:sp>
          <p:nvSpPr>
            <p:cNvPr id="25" name="Shape 19"/>
            <p:cNvSpPr/>
            <p:nvPr/>
          </p:nvSpPr>
          <p:spPr>
            <a:xfrm>
              <a:off x="3310128" y="3154680"/>
              <a:ext cx="475488" cy="475488"/>
            </a:xfrm>
            <a:prstGeom prst="ellipse">
              <a:avLst/>
            </a:prstGeom>
            <a:solidFill>
              <a:srgbClr val="F9C74F"/>
            </a:solidFill>
            <a:ln/>
          </p:spPr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64992" y="3209544"/>
              <a:ext cx="365760" cy="365760"/>
            </a:xfrm>
            <a:prstGeom prst="rect">
              <a:avLst/>
            </a:prstGeom>
          </p:spPr>
        </p:pic>
      </p:grpSp>
      <p:sp>
        <p:nvSpPr>
          <p:cNvPr id="27" name="Text 20"/>
          <p:cNvSpPr/>
          <p:nvPr/>
        </p:nvSpPr>
        <p:spPr>
          <a:xfrm>
            <a:off x="3858768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RBAC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10128" y="36758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JWT-based authentication with role-based access control for Farmer, Consumer and Admin roles.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8076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76E2F6D-1A3A-3F76-300E-A4BF0EE7877F}"/>
              </a:ext>
            </a:extLst>
          </p:cNvPr>
          <p:cNvGrpSpPr/>
          <p:nvPr/>
        </p:nvGrpSpPr>
        <p:grpSpPr>
          <a:xfrm>
            <a:off x="6190488" y="3154680"/>
            <a:ext cx="475488" cy="475488"/>
            <a:chOff x="6190488" y="3154680"/>
            <a:chExt cx="475488" cy="475488"/>
          </a:xfrm>
        </p:grpSpPr>
        <p:sp>
          <p:nvSpPr>
            <p:cNvPr id="30" name="Shape 23"/>
            <p:cNvSpPr/>
            <p:nvPr/>
          </p:nvSpPr>
          <p:spPr>
            <a:xfrm>
              <a:off x="6190488" y="3154680"/>
              <a:ext cx="475488" cy="475488"/>
            </a:xfrm>
            <a:prstGeom prst="ellipse">
              <a:avLst/>
            </a:prstGeom>
            <a:solidFill>
              <a:srgbClr val="2D6A4F"/>
            </a:solidFill>
            <a:ln/>
          </p:spPr>
        </p:sp>
        <p:pic>
          <p:nvPicPr>
            <p:cNvPr id="31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45352" y="3209544"/>
              <a:ext cx="365760" cy="365760"/>
            </a:xfrm>
            <a:prstGeom prst="rect">
              <a:avLst/>
            </a:prstGeom>
          </p:spPr>
        </p:pic>
      </p:grpSp>
      <p:sp>
        <p:nvSpPr>
          <p:cNvPr id="32" name="Text 24"/>
          <p:cNvSpPr/>
          <p:nvPr/>
        </p:nvSpPr>
        <p:spPr>
          <a:xfrm>
            <a:off x="6739128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Payments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190488" y="36758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flows directly Farmer ↔ Consumer. No commission agents. COD supported with transparent pricing.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application with role-based architecture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7180" y="1234440"/>
            <a:ext cx="2743200" cy="3657600"/>
          </a:xfrm>
          <a:prstGeom prst="rect">
            <a:avLst/>
          </a:prstGeom>
          <a:solidFill>
            <a:srgbClr val="1E2A1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2743200" cy="594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338" y="2057400"/>
            <a:ext cx="109728" cy="10972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TailwindCSS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244" y="2555748"/>
            <a:ext cx="109728" cy="10972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109728" cy="10972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26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5986" y="3566160"/>
            <a:ext cx="109728" cy="10972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" y="4050792"/>
            <a:ext cx="109728" cy="109728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31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(Cart)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234440"/>
            <a:ext cx="2743200" cy="3657600"/>
          </a:xfrm>
          <a:prstGeom prst="rect">
            <a:avLst/>
          </a:prstGeom>
          <a:solidFill>
            <a:srgbClr val="1E2A1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234440"/>
            <a:ext cx="2743200" cy="59436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1572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039112"/>
            <a:ext cx="109728" cy="109728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Routes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8337" y="2542032"/>
            <a:ext cx="109728" cy="109728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81578" y="3054096"/>
            <a:ext cx="109728" cy="109728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0" y="2926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81578" y="3566160"/>
            <a:ext cx="109728" cy="109728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4050792"/>
            <a:ext cx="109728" cy="109728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3931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Dotenv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1234440"/>
            <a:ext cx="2743200" cy="3657600"/>
          </a:xfrm>
          <a:prstGeom prst="rect">
            <a:avLst/>
          </a:prstGeom>
          <a:solidFill>
            <a:srgbClr val="1E2A1E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6400800" y="1234440"/>
            <a:ext cx="2743200" cy="594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1572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05956" y="2057400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19202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(Farmer/Consumer/Admin)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2542032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Collection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40627" y="3054096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29260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Collection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41579" y="3566160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34290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37960" y="4050792"/>
            <a:ext cx="109728" cy="10972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3931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</a:t>
            </a:r>
            <a:endParaRPr lang="en-US" sz="1100" dirty="0"/>
          </a:p>
        </p:txBody>
      </p:sp>
      <p:sp>
        <p:nvSpPr>
          <p:cNvPr id="50" name="Arrow: Left-Right 49">
            <a:extLst>
              <a:ext uri="{FF2B5EF4-FFF2-40B4-BE49-F238E27FC236}">
                <a16:creationId xmlns:a16="http://schemas.microsoft.com/office/drawing/2014/main" id="{AEACAE18-9B65-119F-1471-7127BBA63414}"/>
              </a:ext>
            </a:extLst>
          </p:cNvPr>
          <p:cNvSpPr/>
          <p:nvPr/>
        </p:nvSpPr>
        <p:spPr>
          <a:xfrm>
            <a:off x="3017520" y="2971800"/>
            <a:ext cx="320040" cy="109728"/>
          </a:xfrm>
          <a:prstGeom prst="leftRightArrow">
            <a:avLst/>
          </a:prstGeom>
          <a:solidFill>
            <a:srgbClr val="F9C7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DBC555AA-3B52-517D-5960-AC99DF906168}"/>
              </a:ext>
            </a:extLst>
          </p:cNvPr>
          <p:cNvSpPr/>
          <p:nvPr/>
        </p:nvSpPr>
        <p:spPr>
          <a:xfrm>
            <a:off x="6057900" y="2971800"/>
            <a:ext cx="320040" cy="109728"/>
          </a:xfrm>
          <a:prstGeom prst="leftRightArrow">
            <a:avLst/>
          </a:prstGeom>
          <a:solidFill>
            <a:srgbClr val="F9C7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👨‍🌾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256032" cy="25603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await admin approval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50592"/>
            <a:ext cx="256032" cy="25603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4048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products with prices, quantities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26664"/>
            <a:ext cx="256032" cy="25603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9809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 notifications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02736"/>
            <a:ext cx="256032" cy="25603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55701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 to Shipped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178808"/>
            <a:ext cx="256032" cy="256032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13308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direct payment from consumer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105156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051560"/>
            <a:ext cx="2743200" cy="64008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8620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37560" y="1874520"/>
            <a:ext cx="256032" cy="25603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1828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browse marketplace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450592"/>
            <a:ext cx="256032" cy="25603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24048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price, organic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026664"/>
            <a:ext cx="256032" cy="25603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34" name="Text 32"/>
          <p:cNvSpPr/>
          <p:nvPr/>
        </p:nvSpPr>
        <p:spPr>
          <a:xfrm>
            <a:off x="333756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29809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and checkout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37560" y="3602736"/>
            <a:ext cx="256032" cy="25603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37" name="Text 35"/>
          <p:cNvSpPr/>
          <p:nvPr/>
        </p:nvSpPr>
        <p:spPr>
          <a:xfrm>
            <a:off x="333756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355701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in real-time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337560" y="4178808"/>
            <a:ext cx="256032" cy="256032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413308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fresh produce at door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105156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26480" y="1051560"/>
            <a:ext cx="27432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4" name="Text 42"/>
          <p:cNvSpPr/>
          <p:nvPr/>
        </p:nvSpPr>
        <p:spPr>
          <a:xfrm>
            <a:off x="6217920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81228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263640" y="1874520"/>
            <a:ext cx="256032" cy="25603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83680" y="18288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pending farmer applications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2450592"/>
            <a:ext cx="256032" cy="25603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240487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farmers with notes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026664"/>
            <a:ext cx="256032" cy="25603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3" name="Text 51"/>
          <p:cNvSpPr/>
          <p:nvPr/>
        </p:nvSpPr>
        <p:spPr>
          <a:xfrm>
            <a:off x="6263640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29809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 and users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3602736"/>
            <a:ext cx="256032" cy="25603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6" name="Text 54"/>
          <p:cNvSpPr/>
          <p:nvPr/>
        </p:nvSpPr>
        <p:spPr>
          <a:xfrm>
            <a:off x="6263640" y="3602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355701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platform health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63640" y="4178808"/>
            <a:ext cx="256032" cy="256032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9" name="Text 57"/>
          <p:cNvSpPr/>
          <p:nvPr/>
        </p:nvSpPr>
        <p:spPr>
          <a:xfrm>
            <a:off x="6263640" y="4178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83680" y="413308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system-wide settings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with Mongoose schemas &amp; relational references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74904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ObjectId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2167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551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String (unique)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935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Bcrypt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farmer|consumer|admin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3703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pending|approved|rejected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4087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village, district, state (farmer)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4471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address, city (consumer)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1188720"/>
            <a:ext cx="2743200" cy="374904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188720"/>
            <a:ext cx="2743200" cy="457200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801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8328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ObjectId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83280" y="2167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farmer: ref → User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383280" y="2551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83280" y="2935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String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38328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pricePerUnit: Number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383280" y="3703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unit: String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383280" y="402666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quantityAvailable: Number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383280" y="43113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isOrganic: Boolean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383280" y="46085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isAvailable: Boolean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17920" y="1188720"/>
            <a:ext cx="2743200" cy="3749040"/>
          </a:xfrm>
          <a:prstGeom prst="rect">
            <a:avLst/>
          </a:prstGeom>
          <a:solidFill>
            <a:srgbClr val="162032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52B788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751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355080" y="1783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_id: ObjectId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355080" y="21671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consumer: ref → User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355080" y="2551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items[]: product, name,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355080" y="2935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quantity, price, farmer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35508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totalAmount: Number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6355080" y="3703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shippingAddress: Object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6355080" y="40873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pending→delivered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355080" y="44714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E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paymentMethod: String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3017520" y="2560320"/>
            <a:ext cx="228600" cy="36576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42" name="Text 37"/>
          <p:cNvSpPr/>
          <p:nvPr/>
        </p:nvSpPr>
        <p:spPr>
          <a:xfrm>
            <a:off x="2971800" y="23774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C74F"/>
                </a:solidFill>
              </a:rPr>
              <a:t>ref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5989320" y="2560320"/>
            <a:ext cx="228600" cy="36576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44" name="Text 39"/>
          <p:cNvSpPr/>
          <p:nvPr/>
        </p:nvSpPr>
        <p:spPr>
          <a:xfrm>
            <a:off x="5943600" y="23774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C74F"/>
                </a:solidFill>
              </a:rPr>
              <a:t>ref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&amp; 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66928" cy="3017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1440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  — New user registration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27048"/>
            <a:ext cx="566928" cy="3017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527048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      — JWT token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566928" cy="3017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5681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        — Browse all products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566928" cy="3017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8658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3682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        — Farmer lists product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566928" cy="3017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816352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4400" y="27980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          — Consumer places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566928" cy="3017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246120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3227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/api/orders/myorders — Role-based order list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675888"/>
            <a:ext cx="566928" cy="3017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675888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/api/orders/:id/status— Update order 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05656"/>
            <a:ext cx="566928" cy="3017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05656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400" y="4087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     — Admin user management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35424"/>
            <a:ext cx="566928" cy="3017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535424"/>
            <a:ext cx="566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" y="4517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/api/admin/users/:id — Approve/reject farmer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9240" y="1097280"/>
            <a:ext cx="35661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4068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691640"/>
            <a:ext cx="3566160" cy="41148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1728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1728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2103120"/>
            <a:ext cx="3566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440680" y="21396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21396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TailwindCSS, shadcn/ui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2514600"/>
            <a:ext cx="3566160" cy="41148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2551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29400" y="25511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Query, Context API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49240" y="2926080"/>
            <a:ext cx="3566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40680" y="29626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296265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49240" y="3337560"/>
            <a:ext cx="3566160" cy="41148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46" name="Text 44"/>
          <p:cNvSpPr/>
          <p:nvPr/>
        </p:nvSpPr>
        <p:spPr>
          <a:xfrm>
            <a:off x="5440680" y="33741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29400" y="33741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3749040"/>
            <a:ext cx="3566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440680" y="37856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9400" y="37856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Atlas, Mongoose 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49240" y="4160520"/>
            <a:ext cx="3566160" cy="411480"/>
          </a:xfrm>
          <a:prstGeom prst="rect">
            <a:avLst/>
          </a:prstGeom>
          <a:solidFill>
            <a:srgbClr val="F7F9F7"/>
          </a:solidFill>
          <a:ln/>
        </p:spPr>
      </p:sp>
      <p:sp>
        <p:nvSpPr>
          <p:cNvPr id="52" name="Text 50"/>
          <p:cNvSpPr/>
          <p:nvPr/>
        </p:nvSpPr>
        <p:spPr>
          <a:xfrm>
            <a:off x="5440680" y="41970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29400" y="41970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Bcrypt.js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349240" y="4572000"/>
            <a:ext cx="356616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5440680" y="46085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29400" y="46085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 + API)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4688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194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1612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51560" y="1216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Landing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87452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banner, category grid, featured products, stats, farmer CTA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1612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🛍️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977640" y="1216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Browse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10128" y="187452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category filters, price range, organic toggle, product cards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05156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11612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903720" y="12161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36208" y="187452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management, quantity control, delivery address, COD checkout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5760" y="312724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👨‍🌾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05156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Dashboard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4048" y="38404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Add/manage products, view incoming orders, update order status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291840" y="312724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397764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Dashboard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10128" y="38404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history, real-time order tracking, quick shop access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17920" y="312724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6903720" y="31821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36208" y="38404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approvals, all users, all orders, revenue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BUSINESS VALUE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65960" cy="25603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11556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Farmer Income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47472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traditional supply chain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1005840"/>
            <a:ext cx="1965960" cy="25603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1115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4-7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251460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Fresher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496312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farm-to-door vs 7-14 day chain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1005840"/>
            <a:ext cx="1965960" cy="25603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115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6" name="Text 11"/>
          <p:cNvSpPr/>
          <p:nvPr/>
        </p:nvSpPr>
        <p:spPr>
          <a:xfrm>
            <a:off x="466344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Savings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645152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retail market price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720840" y="1005840"/>
            <a:ext cx="1965960" cy="25603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0648" y="111556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21" name="Text 15"/>
          <p:cNvSpPr/>
          <p:nvPr/>
        </p:nvSpPr>
        <p:spPr>
          <a:xfrm>
            <a:off x="681228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793992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farmer-consumer link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52B788">
              <a:alpha val="8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57200" y="3822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11480" y="42245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Supports 500+ million farming families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709160" y="42245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Transparent pricing = reduced farmer debt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Reduces food waste with direct delivery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0916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Empowers rural digital literacy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20040" y="246888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194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QUALITY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54864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3385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expiry tokens, server-side verification on every protected route via Bearer token middleware.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0574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057400"/>
            <a:ext cx="54864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09397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4048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with salt rounds (10). Passwords never stored in plain text, protected against rainbow attacks.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0175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3017520"/>
            <a:ext cx="54864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0540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36499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protect() + admin() middleware guard all routes. Farmers can't access admin routes, consumers can't list products.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9776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977640"/>
            <a:ext cx="54864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0142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32511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 validation on all models. Required fields enforced with enum constraints on status &amp; role.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109728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54880" y="1691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Vitest + Testing Library — Unit &amp; component tests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54880" y="21122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jsdom environment — Browser API simulation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54880" y="2532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ESLint + TypeScript strict mode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754880" y="29535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Protected route testing for all 3 roles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754880" y="33741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API endpoint validation with Postman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754880" y="3794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MongoDB Atlas cloud — production-ready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54880" y="42153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Vercel deployment with API proxy rewriting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4864" cy="84124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1704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Authentication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" y="1572768"/>
            <a:ext cx="777240" cy="2286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15727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977640" y="1188720"/>
            <a:ext cx="27432" cy="658368"/>
          </a:xfrm>
          <a:prstGeom prst="rect">
            <a:avLst/>
          </a:prstGeom>
          <a:solidFill>
            <a:srgbClr val="B7E4C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325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11887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role field in payload. ProtectedRoute component reads localStorage and redirects based on role. Three separate dashboards.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" y="2066544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2066544"/>
            <a:ext cx="54864" cy="84124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9514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" y="21396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Verification Workflow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" y="2542032"/>
            <a:ext cx="777240" cy="2286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18" name="Text 13"/>
          <p:cNvSpPr/>
          <p:nvPr/>
        </p:nvSpPr>
        <p:spPr>
          <a:xfrm>
            <a:off x="804672" y="25420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977640" y="2157984"/>
            <a:ext cx="27432" cy="658368"/>
          </a:xfrm>
          <a:prstGeom prst="rect">
            <a:avLst/>
          </a:prstGeom>
          <a:solidFill>
            <a:srgbClr val="B7E4C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295144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26280" y="21579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register with status='pending'. Admin must approve before login. Login endpoint checks status and returns 401 for pending/rejected.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74320" y="3035808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274320" y="3035808"/>
            <a:ext cx="54864" cy="84124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64408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4672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Order-Farmer Linkage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04672" y="3511296"/>
            <a:ext cx="777240" cy="2286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7" name="Text 20"/>
          <p:cNvSpPr/>
          <p:nvPr/>
        </p:nvSpPr>
        <p:spPr>
          <a:xfrm>
            <a:off x="804672" y="35112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3977640" y="3127248"/>
            <a:ext cx="27432" cy="658368"/>
          </a:xfrm>
          <a:prstGeom prst="rect">
            <a:avLst/>
          </a:prstGeom>
          <a:solidFill>
            <a:srgbClr val="B7E4C7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264408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526280" y="31272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item stores farmer ObjectId directly. Farmers query orders by items.farmer field. Full traceability per item.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274320" y="4005072"/>
            <a:ext cx="859536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74320" y="4005072"/>
            <a:ext cx="54864" cy="841248"/>
          </a:xfrm>
          <a:prstGeom prst="rect">
            <a:avLst/>
          </a:prstGeom>
          <a:solidFill>
            <a:srgbClr val="F4845F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33672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04672" y="40782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Deployment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804672" y="4480560"/>
            <a:ext cx="777240" cy="22860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36" name="Text 27"/>
          <p:cNvSpPr/>
          <p:nvPr/>
        </p:nvSpPr>
        <p:spPr>
          <a:xfrm>
            <a:off x="804672" y="4480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3977640" y="4096512"/>
            <a:ext cx="27432" cy="658368"/>
          </a:xfrm>
          <a:prstGeom prst="rect">
            <a:avLst/>
          </a:prstGeom>
          <a:solidFill>
            <a:srgbClr val="B7E4C7"/>
          </a:solidFill>
          <a:ln/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233672"/>
            <a:ext cx="320040" cy="3200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526280" y="40965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rewrites /api/* to api/index.js. Mongoose connection cached in global scope to survive cold starts and reuse connections.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to scale GramConnect across India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97480" cy="3520440"/>
          </a:xfrm>
          <a:prstGeom prst="rect">
            <a:avLst/>
          </a:prstGeom>
          <a:solidFill>
            <a:srgbClr val="1E2A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2697480" cy="502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89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React Native mobile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243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Razorpay payment gateway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8269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Google Maps delivery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410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Farmer rating &amp; reviews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97480" cy="3520440"/>
          </a:xfrm>
          <a:prstGeom prst="rect">
            <a:avLst/>
          </a:prstGeom>
          <a:solidFill>
            <a:srgbClr val="1E2A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97480" cy="502920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89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crop price prediction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6243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Farmer analytics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328269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Logistics partner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9410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Vernacular language support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325880"/>
            <a:ext cx="2697480" cy="3520440"/>
          </a:xfrm>
          <a:prstGeom prst="rect">
            <a:avLst/>
          </a:prstGeom>
          <a:solidFill>
            <a:srgbClr val="1E2A1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325880"/>
            <a:ext cx="2697480" cy="502920"/>
          </a:xfrm>
          <a:prstGeom prst="rect">
            <a:avLst/>
          </a:prstGeom>
          <a:solidFill>
            <a:srgbClr val="F4845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3898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Multi-state expansion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62432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Farmer cooperative support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8269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Blockchain supply traceability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9410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Micro-loan integration for farmers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52B788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GramConnect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Rural-Urban Divide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F9C74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Empowering Farmers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Nourishing Cities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Building Trust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shortest distance between the earth and the plate."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• Node.js • MongoDB • Love for Indian Farmers  🇮🇳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1243</Words>
  <Application>Microsoft Office PowerPoint</Application>
  <PresentationFormat>On-screen Show (16:9)</PresentationFormat>
  <Paragraphs>283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GramConnect - Direct Farmer to Consumer Marketplace</dc:title>
  <dc:subject>PptxGenJS Presentation</dc:subject>
  <dc:creator>PptxGenJS</dc:creator>
  <cp:lastModifiedBy>Santhosh Kumar R S</cp:lastModifiedBy>
  <cp:revision>2</cp:revision>
  <dcterms:created xsi:type="dcterms:W3CDTF">2026-04-20T13:30:28Z</dcterms:created>
  <dcterms:modified xsi:type="dcterms:W3CDTF">2026-04-20T13:50:40Z</dcterms:modified>
</cp:coreProperties>
</file>